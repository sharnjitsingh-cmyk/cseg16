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76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75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931920"/>
            <a:ext cx="2743200" cy="2743200"/>
          </a:xfrm>
          <a:prstGeom prst="ellipse">
            <a:avLst/>
          </a:prstGeom>
          <a:solidFill>
            <a:srgbClr val="5FD0C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 Programming Language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Features, Program Structure, Compilation &amp; Execution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251960"/>
            <a:ext cx="822960" cy="54864"/>
          </a:xfrm>
          <a:prstGeom prst="rect">
            <a:avLst/>
          </a:prstGeom>
          <a:solidFill>
            <a:srgbClr val="5FD0C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SHARNJIT SINGH 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a general-purpose, procedural programming language developed for building system software, application software, and embedded systems. It gives programmers close control over memory and hardware while remaining portable across platforms.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29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Middle-level language  </a:t>
            </a: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low-level hardware access with high-level readability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17880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959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language  </a:t>
            </a: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are organized into functions and blocks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74573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628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language  </a:t>
            </a: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C++, Java, C#, and many modern languages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40880" y="173736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33172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
</a:t>
            </a:r>
            <a:r>
              <a:rPr lang="en-US" sz="140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{
    printf(</a:t>
            </a: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World!"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140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0;
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History of 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92354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98648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Richards develops BCPL, a language for writing compilers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2898648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8508" y="2240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78508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Language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778508" y="3639312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Thompson creates B at Bell Labs, refining BCPL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42816" y="2898648"/>
            <a:ext cx="274320" cy="274320"/>
          </a:xfrm>
          <a:prstGeom prst="ellipse">
            <a:avLst/>
          </a:prstGeom>
          <a:solidFill>
            <a:srgbClr val="5FD0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5596" y="2240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25596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Born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25596" y="3639312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Ritchie develops C at Bell Labs for Unix development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2898648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2684" y="2240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72684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K&amp;R 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72684" y="3639312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Kernighan &amp; Ritchie publish 'The C Programming Language'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36992" y="2898648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9772" y="2240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9772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C (C89)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9772" y="3639312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National Standards Institute standardizes 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84080" y="2898648"/>
            <a:ext cx="274320" cy="2743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6860" y="22402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66860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C99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66860" y="3639312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standard adds inline functions, new data types, and more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Efficient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set of keywords; produces fast, compact executables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057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run on different machines with little or no change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103120"/>
            <a:ext cx="457200" cy="45720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057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organized into functions, promoting modular design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Library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standard library for I/O, string and math operations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8404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069080"/>
            <a:ext cx="457200" cy="45720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Control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6177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allow direct access to memory addresses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4069080"/>
            <a:ext cx="457200" cy="45720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46177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functions and data types can easily be added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 Still Matters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4825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48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0195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0195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Unix, Linux kernel, and Windows components are written in 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9981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99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9535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5351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Microcontrollers, IoT devices, and firmware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15137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51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0050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&amp; Interpreters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00507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language toolchains are built on 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02936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02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0566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505663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Performance-critical graphics and physics engines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a C Program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783080"/>
            <a:ext cx="5760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8562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/ Comments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429000" y="22219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notes describing the program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2624328"/>
            <a:ext cx="0" cy="1371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2761488"/>
            <a:ext cx="5760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Directives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2900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#include, #define statements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3602736"/>
            <a:ext cx="0" cy="1371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0" y="3739896"/>
            <a:ext cx="5760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8130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Declarations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29000" y="41788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 and function prototypes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4581144"/>
            <a:ext cx="0" cy="1371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00400" y="4718304"/>
            <a:ext cx="5760720" cy="841248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7914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Function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429000" y="51572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 begins here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5559552"/>
            <a:ext cx="0" cy="1371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0400" y="5696712"/>
            <a:ext cx="5760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57698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Functions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429000" y="61356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functions called from main()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 Program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583680" cy="4480560"/>
          </a:xfrm>
          <a:prstGeom prst="roundRect">
            <a:avLst>
              <a:gd name="adj" fmla="val 2041"/>
            </a:avLst>
          </a:prstGeom>
          <a:solidFill>
            <a:srgbClr val="1017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A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Documentation: adds two numbers */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</a:t>
            </a:r>
            <a:r>
              <a:rPr lang="en-US" sz="13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
</a:t>
            </a: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sum(int a, int b);</a:t>
            </a: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dirty="0">
                <a:solidFill>
                  <a:srgbClr val="7A8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prototype
</a:t>
            </a: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 {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5, y = 8;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sum(x, y);
    printf(</a:t>
            </a:r>
            <a:r>
              <a:rPr lang="en-US" sz="13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= %d"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total);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0;
}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sum(int a, int b) {
</a:t>
            </a:r>
            <a:r>
              <a:rPr lang="en-US" sz="13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b;
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892808"/>
            <a:ext cx="411480" cy="411480"/>
          </a:xfrm>
          <a:prstGeom prst="rect">
            <a:avLst/>
          </a:prstGeom>
          <a:solidFill>
            <a:srgbClr val="5FD0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17830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6640" y="262432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2734056"/>
            <a:ext cx="411480" cy="411480"/>
          </a:xfrm>
          <a:prstGeom prst="rect">
            <a:avLst/>
          </a:prstGeom>
          <a:solidFill>
            <a:srgbClr val="5FD0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62432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06640" y="34655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3575304"/>
            <a:ext cx="411480" cy="411480"/>
          </a:xfrm>
          <a:prstGeom prst="rect">
            <a:avLst/>
          </a:prstGeom>
          <a:solidFill>
            <a:srgbClr val="5FD0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46557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06640" y="430682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4416552"/>
            <a:ext cx="411480" cy="411480"/>
          </a:xfrm>
          <a:prstGeom prst="rect">
            <a:avLst/>
          </a:prstGeom>
          <a:solidFill>
            <a:srgbClr val="5FD0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430682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function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514807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5257800"/>
            <a:ext cx="411480" cy="411480"/>
          </a:xfrm>
          <a:prstGeom prst="rect">
            <a:avLst/>
          </a:prstGeom>
          <a:solidFill>
            <a:srgbClr val="5FD0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514807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function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Each Section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84708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preprocessor to include the standard I/O library so functions like printf() and scanf() can be used.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443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sum(int a, int b);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2962656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prototype declares a function's name, return type, and parameters before it is used.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59936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 ... }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4078224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program must have exactly one main() function — execution always starts here.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175504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D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5193792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to the operating system that the program finished successfully.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 Code to Executable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macros, handles #include &amp; #define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2219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3154680"/>
            <a:ext cx="256032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10712" y="21031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93592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93592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code into assembly language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93592" y="3840480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382219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16752" y="3154680"/>
            <a:ext cx="256032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72784" y="21031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55664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55664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assembly into machine code (object file)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55664" y="3840480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55664" y="382219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78824" y="3154680"/>
            <a:ext cx="256032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34856" y="21031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317736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317736" y="2697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17736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object &amp; library code into one executable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317736" y="3840480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17736" y="382219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program.exe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(.c)  →  Preprocessing  →  Compilation  →  Assembly  →  Linking  →  Executable (.exe)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Compilation Process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7373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preprocessor scans the source file for directives beginning with #, expanding header files and macros into a single expanded source file.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translates the preprocessed C code into low-level assembly language specific to the target processor architecture.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3749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assembler converts the assembly code into machine-readable object code (binary), stored in an object file (.o / .obj).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5FD0C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4754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linker combines one or more object files with required library code, resolving function references to produce a single executable file.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 Program Executes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379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54880" y="183794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loader copies the executable from disk into main memory (RAM)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79192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919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3405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54880" y="273405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 are initialized; the runtime environment is set 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75304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7530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301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begins at main()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54880" y="36301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starts fetching and executing instructions from main()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71416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7141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526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Support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754880" y="4526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like malloc(), printf() rely on the C runtime library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67528"/>
            <a:ext cx="594360" cy="749808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6752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54223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Termination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54880" y="54223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 (or exit()) returns control and status to the 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D0C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727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originated in 1972 at Bell Labs and remains foundational to modern computing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D0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585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features — speed, portability, and memory control — keep it relevant today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D0C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44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program follows a defined structure: preprocessor, declarations, and main()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D0C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301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moves source code through preprocessing, compiling, assembling &amp; linking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D0C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159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loads the compiled program into memory and runs it from main()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F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965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3</cp:revision>
  <dcterms:created xsi:type="dcterms:W3CDTF">2026-08-23T21:42:24Z</dcterms:created>
  <dcterms:modified xsi:type="dcterms:W3CDTF">2026-08-23T22:09:31Z</dcterms:modified>
</cp:coreProperties>
</file>